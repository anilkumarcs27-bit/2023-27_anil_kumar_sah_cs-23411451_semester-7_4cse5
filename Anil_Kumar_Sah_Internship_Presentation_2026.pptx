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ilm_logo_p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411480"/>
            <a:ext cx="857794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481328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b="1">
                <a:solidFill>
                  <a:srgbClr val="141414"/>
                </a:solidFill>
                <a:latin typeface="Arial"/>
              </a:defRPr>
            </a:pPr>
            <a:r>
              <a:t>IILM UNIVERSITY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07043" y="2011680"/>
            <a:ext cx="6547433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41414"/>
                </a:solidFill>
                <a:latin typeface="Arial"/>
              </a:defRPr>
            </a:pPr>
            <a:r>
              <a:rPr sz="2400" dirty="0"/>
              <a:t>BREAST CANCER DETECTION</a:t>
            </a:r>
            <a:br>
              <a:rPr sz="2400" dirty="0"/>
            </a:br>
            <a:r>
              <a:rPr sz="2400" dirty="0"/>
              <a:t>USING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566160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Arial"/>
              </a:defRPr>
            </a:pPr>
            <a:r>
              <a:t>Student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3566160"/>
            <a:ext cx="6309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73737"/>
                </a:solidFill>
                <a:latin typeface="Arial"/>
              </a:defRPr>
            </a:pPr>
            <a:r>
              <a:t>ANIL KUMAR SAH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3950208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Arial"/>
              </a:defRPr>
            </a:pPr>
            <a:r>
              <a:t>Enrollment 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3950208"/>
            <a:ext cx="6309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73737"/>
                </a:solidFill>
                <a:latin typeface="Arial"/>
              </a:defRPr>
            </a:pPr>
            <a:r>
              <a:t>CS-23411451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334256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Arial"/>
              </a:defRPr>
            </a:pPr>
            <a:r>
              <a:t>Program &amp; Semester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4334256"/>
            <a:ext cx="204152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73737"/>
                </a:solidFill>
                <a:latin typeface="Arial"/>
              </a:defRPr>
            </a:pPr>
            <a:r>
              <a:rPr dirty="0" err="1"/>
              <a:t>B.Tech</a:t>
            </a:r>
            <a:r>
              <a:rPr dirty="0"/>
              <a:t> CSE </a:t>
            </a:r>
            <a:r>
              <a:rPr lang="en-IN" dirty="0"/>
              <a:t>-</a:t>
            </a:r>
            <a:r>
              <a:rPr dirty="0"/>
              <a:t> Semester VII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4718304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Arial"/>
              </a:defRPr>
            </a:pPr>
            <a:r>
              <a:t>Organization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718304"/>
            <a:ext cx="6309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73737"/>
                </a:solidFill>
                <a:latin typeface="Arial"/>
              </a:defRPr>
            </a:pPr>
            <a:r>
              <a:t>Cognify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5102352"/>
            <a:ext cx="2148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Arial"/>
              </a:defRPr>
            </a:pPr>
            <a:r>
              <a:t>Role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5102352"/>
            <a:ext cx="6309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373737"/>
                </a:solidFill>
                <a:latin typeface="Arial"/>
              </a:defRPr>
            </a:pPr>
            <a:r>
              <a:t>AIML Engineer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9893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6E6E6E"/>
                </a:solidFill>
                <a:latin typeface="Arial"/>
              </a:defRPr>
            </a:pPr>
            <a:r>
              <a:t>Batch: 2023–27  |  Section: 4CSE5  |  Academic Year: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502920"/>
            <a:ext cx="10972800" cy="2743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41414"/>
                </a:solidFill>
                <a:latin typeface="Arial"/>
              </a:defRPr>
            </a:pPr>
            <a:r>
              <a:t>1. Engagement &amp; Organization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85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6E6E6E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Arial"/>
              </a:defRPr>
            </a:pPr>
            <a:r>
              <a:t>IILM University • B.Tech CSE • Internship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3429000" cy="1828800"/>
          </a:xfrm>
          <a:prstGeom prst="roundRect">
            <a:avLst/>
          </a:prstGeom>
          <a:solidFill>
            <a:srgbClr val="F9F9F9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400" b="1">
                <a:solidFill>
                  <a:srgbClr val="141414"/>
                </a:solidFill>
                <a:latin typeface="Arial"/>
              </a:defRPr>
            </a:pPr>
            <a:r>
              <a:rPr dirty="0"/>
              <a:t>Organization</a:t>
            </a:r>
          </a:p>
          <a:p>
            <a:pPr algn="ctr">
              <a:spcBef>
                <a:spcPts val="500"/>
              </a:spcBef>
              <a:defRPr sz="1150">
                <a:solidFill>
                  <a:srgbClr val="373737"/>
                </a:solidFill>
                <a:latin typeface="Arial"/>
              </a:defRPr>
            </a:pPr>
            <a:r>
              <a:rPr dirty="0"/>
              <a:t>Technology company, Cognify, working on applied AI/ML solutions and data-driven products.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371600"/>
            <a:ext cx="3429000" cy="1828800"/>
          </a:xfrm>
          <a:prstGeom prst="roundRect">
            <a:avLst/>
          </a:prstGeom>
          <a:solidFill>
            <a:srgbClr val="F9F9F9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400" b="1">
                <a:solidFill>
                  <a:srgbClr val="141414"/>
                </a:solidFill>
                <a:latin typeface="Arial"/>
              </a:defRPr>
            </a:pPr>
            <a:r>
              <a:t>Engagement</a:t>
            </a:r>
          </a:p>
          <a:p>
            <a:pPr>
              <a:spcBef>
                <a:spcPts val="500"/>
              </a:spcBef>
              <a:defRPr sz="1150">
                <a:solidFill>
                  <a:srgbClr val="373737"/>
                </a:solidFill>
                <a:latin typeface="Arial"/>
              </a:defRPr>
            </a:pPr>
            <a:r>
              <a:t>AIML Engineer</a:t>
            </a:r>
            <a:br/>
            <a:r>
              <a:t>Internship • Full-time</a:t>
            </a:r>
            <a:br/>
            <a:r>
              <a:t>Duration: 1 month</a:t>
            </a:r>
            <a:br/>
            <a:r>
              <a:t>Academic Year 2026–27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371600"/>
            <a:ext cx="3429000" cy="1828800"/>
          </a:xfrm>
          <a:prstGeom prst="roundRect">
            <a:avLst/>
          </a:prstGeom>
          <a:solidFill>
            <a:srgbClr val="F9F9F9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400" b="1">
                <a:solidFill>
                  <a:srgbClr val="141414"/>
                </a:solidFill>
                <a:latin typeface="Arial"/>
              </a:defRPr>
            </a:pPr>
            <a:r>
              <a:rPr dirty="0"/>
              <a:t>Development Context</a:t>
            </a:r>
          </a:p>
          <a:p>
            <a:pPr algn="ctr">
              <a:spcBef>
                <a:spcPts val="500"/>
              </a:spcBef>
              <a:defRPr sz="1150">
                <a:solidFill>
                  <a:srgbClr val="373737"/>
                </a:solidFill>
                <a:latin typeface="Arial"/>
              </a:defRPr>
            </a:pPr>
            <a:r>
              <a:rPr dirty="0"/>
              <a:t>Individual project-based internship applying machine learning to a real-world medical diagnostic classification problem.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57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41414"/>
                </a:solidFill>
                <a:latin typeface="Arial"/>
              </a:defRPr>
            </a:pPr>
            <a:r>
              <a:t>Focus of the 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373737"/>
                </a:solidFill>
                <a:latin typeface="Arial"/>
              </a:defRPr>
            </a:pPr>
            <a:r>
              <a:t>• Building a machine learning system to classify breast cancer tumors.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27448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373737"/>
                </a:solidFill>
                <a:latin typeface="Arial"/>
              </a:defRPr>
            </a:pPr>
            <a:r>
              <a:t>• Working across data preprocessing, model building, tuning and evaluation.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94376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373737"/>
                </a:solidFill>
                <a:latin typeface="Arial"/>
              </a:defRPr>
            </a:pPr>
            <a:r>
              <a:t>• Applying supervised learning (KNN) to a real-world medical dataset.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502920"/>
            <a:ext cx="10972800" cy="2743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41414"/>
                </a:solidFill>
                <a:latin typeface="Arial"/>
              </a:defRPr>
            </a:pPr>
            <a:r>
              <a:t>2. 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85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6E6E6E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Arial"/>
              </a:defRPr>
            </a:pPr>
            <a:r>
              <a:t>IILM University • B.Tech CSE • Internship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5212080" cy="4389120"/>
          </a:xfrm>
          <a:prstGeom prst="roundRect">
            <a:avLst/>
          </a:prstGeom>
          <a:solidFill>
            <a:srgbClr val="F9F9F9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400" b="1">
                <a:solidFill>
                  <a:srgbClr val="141414"/>
                </a:solidFill>
                <a:latin typeface="Arial"/>
              </a:defRPr>
            </a:pPr>
            <a:r>
              <a:rPr dirty="0"/>
              <a:t>Problem Statement</a:t>
            </a:r>
          </a:p>
          <a:p>
            <a:pPr algn="ctr">
              <a:spcBef>
                <a:spcPts val="500"/>
              </a:spcBef>
              <a:defRPr sz="1150">
                <a:solidFill>
                  <a:srgbClr val="373737"/>
                </a:solidFill>
                <a:latin typeface="Arial"/>
              </a:defRPr>
            </a:pPr>
            <a:r>
              <a:rPr dirty="0"/>
              <a:t>Early and accurate diagnosis of breast cancer is critical for effective treatment. Manual interpretation of diagnostic measurements can be time-consuming and prone to human error. There is a need for a reliable, data-driven approach to classify tumors as benign or malignant using measurable cell-nuclei features.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371600"/>
            <a:ext cx="5394960" cy="4389120"/>
          </a:xfrm>
          <a:prstGeom prst="roundRect">
            <a:avLst/>
          </a:prstGeom>
          <a:solidFill>
            <a:srgbClr val="F9F9F9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400" b="1">
                <a:solidFill>
                  <a:srgbClr val="141414"/>
                </a:solidFill>
                <a:latin typeface="Arial"/>
              </a:defRPr>
            </a:pPr>
            <a:r>
              <a:rPr dirty="0"/>
              <a:t>Project Objectives</a:t>
            </a:r>
          </a:p>
          <a:p>
            <a:pPr>
              <a:spcBef>
                <a:spcPts val="500"/>
              </a:spcBef>
              <a:defRPr sz="1150">
                <a:solidFill>
                  <a:srgbClr val="373737"/>
                </a:solidFill>
                <a:latin typeface="Arial"/>
              </a:defRPr>
            </a:pPr>
            <a:r>
              <a:rPr dirty="0"/>
              <a:t>• Load and explore the Breast Cancer Wisconsin dataset</a:t>
            </a:r>
            <a:br>
              <a:rPr dirty="0"/>
            </a:br>
            <a:r>
              <a:rPr dirty="0"/>
              <a:t>• Clean and preprocess data, removing irrelevant columns</a:t>
            </a:r>
            <a:br>
              <a:rPr dirty="0"/>
            </a:br>
            <a:r>
              <a:rPr dirty="0"/>
              <a:t>• Split data into training and testing sets</a:t>
            </a:r>
            <a:br>
              <a:rPr dirty="0"/>
            </a:br>
            <a:r>
              <a:rPr dirty="0"/>
              <a:t>• Apply feature scaling using StandardScaler</a:t>
            </a:r>
            <a:br>
              <a:rPr dirty="0"/>
            </a:br>
            <a:r>
              <a:rPr dirty="0"/>
              <a:t>• Build a K-Nearest Neighbors classification model</a:t>
            </a:r>
            <a:br>
              <a:rPr dirty="0"/>
            </a:br>
            <a:r>
              <a:rPr dirty="0"/>
              <a:t>• Tune the value of k for optimal performance</a:t>
            </a:r>
            <a:br>
              <a:rPr dirty="0"/>
            </a:br>
            <a:r>
              <a:rPr dirty="0"/>
              <a:t>• Evaluate the model using accuracy score</a:t>
            </a:r>
            <a:br>
              <a:rPr dirty="0"/>
            </a:br>
            <a:r>
              <a:rPr dirty="0"/>
              <a:t>• Visualize accuracy trends across k values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502920"/>
            <a:ext cx="10972800" cy="2743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41414"/>
                </a:solidFill>
                <a:latin typeface="Arial"/>
              </a:defRPr>
            </a:pPr>
            <a:r>
              <a:t>3. Scope, Technologies &amp;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85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6E6E6E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Arial"/>
              </a:defRPr>
            </a:pPr>
            <a:r>
              <a:t>IILM University • B.Tech CSE • Internship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212080" cy="1874519"/>
          </a:xfrm>
          <a:prstGeom prst="roundRect">
            <a:avLst/>
          </a:prstGeom>
          <a:solidFill>
            <a:srgbClr val="F9F9F9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400" b="1">
                <a:solidFill>
                  <a:srgbClr val="141414"/>
                </a:solidFill>
                <a:latin typeface="Arial"/>
              </a:defRPr>
            </a:pPr>
            <a:r>
              <a:rPr dirty="0"/>
              <a:t>Project Scope</a:t>
            </a:r>
          </a:p>
          <a:p>
            <a:pPr algn="ctr">
              <a:spcBef>
                <a:spcPts val="500"/>
              </a:spcBef>
              <a:defRPr sz="1150">
                <a:solidFill>
                  <a:srgbClr val="373737"/>
                </a:solidFill>
                <a:latin typeface="Arial"/>
              </a:defRPr>
            </a:pPr>
            <a:r>
              <a:rPr dirty="0"/>
              <a:t>End-to-end machine learning pipeline covering data loading, cleaning, preprocessing, feature scaling, model building, hyperparameter tuning and performance evaluation.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474720"/>
            <a:ext cx="5212080" cy="1874519"/>
          </a:xfrm>
          <a:prstGeom prst="roundRect">
            <a:avLst/>
          </a:prstGeom>
          <a:solidFill>
            <a:srgbClr val="F9F9F9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400" b="1">
                <a:solidFill>
                  <a:srgbClr val="141414"/>
                </a:solidFill>
                <a:latin typeface="Arial"/>
              </a:defRPr>
            </a:pPr>
            <a:r>
              <a:rPr dirty="0"/>
              <a:t>Engineering Responsibilities</a:t>
            </a:r>
          </a:p>
          <a:p>
            <a:pPr algn="ctr">
              <a:spcBef>
                <a:spcPts val="500"/>
              </a:spcBef>
              <a:defRPr sz="1150">
                <a:solidFill>
                  <a:srgbClr val="373737"/>
                </a:solidFill>
                <a:latin typeface="Arial"/>
              </a:defRPr>
            </a:pPr>
            <a:r>
              <a:rPr dirty="0"/>
              <a:t>Dataset handling, feature engineering, model experimentation, accuracy benchmarking across k-values and visualization of results.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2423160" cy="896112"/>
          </a:xfrm>
          <a:prstGeom prst="roundRect">
            <a:avLst/>
          </a:prstGeom>
          <a:solidFill>
            <a:srgbClr val="F9F9F9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400" b="1">
                <a:solidFill>
                  <a:srgbClr val="141414"/>
                </a:solidFill>
                <a:latin typeface="Arial"/>
              </a:defRPr>
            </a:pPr>
            <a:r>
              <a:rPr dirty="0"/>
              <a:t>Python</a:t>
            </a:r>
          </a:p>
          <a:p>
            <a:pPr algn="ctr">
              <a:spcBef>
                <a:spcPts val="500"/>
              </a:spcBef>
              <a:defRPr sz="1150">
                <a:solidFill>
                  <a:srgbClr val="373737"/>
                </a:solidFill>
                <a:latin typeface="Arial"/>
              </a:defRPr>
            </a:pPr>
            <a:r>
              <a:rPr dirty="0"/>
              <a:t>Programming language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325880"/>
            <a:ext cx="2423160" cy="896112"/>
          </a:xfrm>
          <a:prstGeom prst="roundRect">
            <a:avLst/>
          </a:prstGeom>
          <a:solidFill>
            <a:srgbClr val="F9F9F9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400" b="1">
                <a:solidFill>
                  <a:srgbClr val="141414"/>
                </a:solidFill>
                <a:latin typeface="Arial"/>
              </a:defRPr>
            </a:pPr>
            <a:r>
              <a:rPr dirty="0"/>
              <a:t>Scikit-learn</a:t>
            </a:r>
          </a:p>
          <a:p>
            <a:pPr algn="ctr">
              <a:spcBef>
                <a:spcPts val="500"/>
              </a:spcBef>
              <a:defRPr sz="1150">
                <a:solidFill>
                  <a:srgbClr val="373737"/>
                </a:solidFill>
                <a:latin typeface="Arial"/>
              </a:defRPr>
            </a:pPr>
            <a:r>
              <a:rPr dirty="0"/>
              <a:t>ML library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441448"/>
            <a:ext cx="2423160" cy="896112"/>
          </a:xfrm>
          <a:prstGeom prst="roundRect">
            <a:avLst/>
          </a:prstGeom>
          <a:solidFill>
            <a:srgbClr val="F9F9F9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400" b="1">
                <a:solidFill>
                  <a:srgbClr val="141414"/>
                </a:solidFill>
                <a:latin typeface="Arial"/>
              </a:defRPr>
            </a:pPr>
            <a:r>
              <a:rPr dirty="0"/>
              <a:t>Pandas / NumPy</a:t>
            </a:r>
          </a:p>
          <a:p>
            <a:pPr algn="ctr">
              <a:spcBef>
                <a:spcPts val="500"/>
              </a:spcBef>
              <a:defRPr sz="1150">
                <a:solidFill>
                  <a:srgbClr val="373737"/>
                </a:solidFill>
                <a:latin typeface="Arial"/>
              </a:defRPr>
            </a:pPr>
            <a:r>
              <a:rPr dirty="0"/>
              <a:t>Data handling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2441448"/>
            <a:ext cx="2423160" cy="896112"/>
          </a:xfrm>
          <a:prstGeom prst="roundRect">
            <a:avLst/>
          </a:prstGeom>
          <a:solidFill>
            <a:srgbClr val="F9F9F9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400" b="1">
                <a:solidFill>
                  <a:srgbClr val="141414"/>
                </a:solidFill>
                <a:latin typeface="Arial"/>
              </a:defRPr>
            </a:pPr>
            <a:r>
              <a:rPr dirty="0"/>
              <a:t>Matplotlib</a:t>
            </a:r>
          </a:p>
          <a:p>
            <a:pPr algn="ctr">
              <a:spcBef>
                <a:spcPts val="500"/>
              </a:spcBef>
              <a:defRPr sz="1150">
                <a:solidFill>
                  <a:srgbClr val="373737"/>
                </a:solidFill>
                <a:latin typeface="Arial"/>
              </a:defRPr>
            </a:pPr>
            <a:r>
              <a:rPr dirty="0"/>
              <a:t>Visualization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557015"/>
            <a:ext cx="2423160" cy="896112"/>
          </a:xfrm>
          <a:prstGeom prst="roundRect">
            <a:avLst/>
          </a:prstGeom>
          <a:solidFill>
            <a:srgbClr val="F9F9F9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400" b="1">
                <a:solidFill>
                  <a:srgbClr val="141414"/>
                </a:solidFill>
                <a:latin typeface="Arial"/>
              </a:defRPr>
            </a:pPr>
            <a:r>
              <a:rPr dirty="0"/>
              <a:t>Google Colab</a:t>
            </a:r>
          </a:p>
          <a:p>
            <a:pPr algn="ctr">
              <a:spcBef>
                <a:spcPts val="500"/>
              </a:spcBef>
              <a:defRPr sz="1150">
                <a:solidFill>
                  <a:srgbClr val="373737"/>
                </a:solidFill>
                <a:latin typeface="Arial"/>
              </a:defRPr>
            </a:pPr>
            <a:r>
              <a:rPr dirty="0"/>
              <a:t>Dev environment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23960" y="3557015"/>
            <a:ext cx="2423160" cy="896112"/>
          </a:xfrm>
          <a:prstGeom prst="roundRect">
            <a:avLst/>
          </a:prstGeom>
          <a:solidFill>
            <a:srgbClr val="F9F9F9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400" b="1">
                <a:solidFill>
                  <a:srgbClr val="141414"/>
                </a:solidFill>
                <a:latin typeface="Arial"/>
              </a:defRPr>
            </a:pPr>
            <a:r>
              <a:rPr dirty="0"/>
              <a:t>StandardScaler</a:t>
            </a:r>
          </a:p>
          <a:p>
            <a:pPr algn="ctr">
              <a:spcBef>
                <a:spcPts val="500"/>
              </a:spcBef>
              <a:defRPr sz="1150">
                <a:solidFill>
                  <a:srgbClr val="373737"/>
                </a:solidFill>
                <a:latin typeface="Arial"/>
              </a:defRPr>
            </a:pPr>
            <a:r>
              <a:rPr dirty="0"/>
              <a:t>Feature scaling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672584"/>
            <a:ext cx="2423160" cy="896112"/>
          </a:xfrm>
          <a:prstGeom prst="roundRect">
            <a:avLst/>
          </a:prstGeom>
          <a:solidFill>
            <a:srgbClr val="F9F9F9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400" b="1">
                <a:solidFill>
                  <a:srgbClr val="141414"/>
                </a:solidFill>
                <a:latin typeface="Arial"/>
              </a:defRPr>
            </a:pPr>
            <a:r>
              <a:rPr dirty="0"/>
              <a:t>KNN Classifier</a:t>
            </a:r>
          </a:p>
          <a:p>
            <a:pPr algn="ctr">
              <a:spcBef>
                <a:spcPts val="500"/>
              </a:spcBef>
              <a:defRPr sz="1150">
                <a:solidFill>
                  <a:srgbClr val="373737"/>
                </a:solidFill>
                <a:latin typeface="Arial"/>
              </a:defRPr>
            </a:pPr>
            <a:r>
              <a:rPr dirty="0"/>
              <a:t>ML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4672584"/>
            <a:ext cx="2423160" cy="896112"/>
          </a:xfrm>
          <a:prstGeom prst="roundRect">
            <a:avLst/>
          </a:prstGeom>
          <a:solidFill>
            <a:srgbClr val="F9F9F9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400" b="1">
                <a:solidFill>
                  <a:srgbClr val="141414"/>
                </a:solidFill>
                <a:latin typeface="Arial"/>
              </a:defRPr>
            </a:pPr>
            <a:r>
              <a:rPr dirty="0"/>
              <a:t>Git / GitHub</a:t>
            </a:r>
          </a:p>
          <a:p>
            <a:pPr algn="ctr">
              <a:spcBef>
                <a:spcPts val="500"/>
              </a:spcBef>
              <a:defRPr sz="1150">
                <a:solidFill>
                  <a:srgbClr val="373737"/>
                </a:solidFill>
                <a:latin typeface="Arial"/>
              </a:defRPr>
            </a:pPr>
            <a:r>
              <a:rPr dirty="0"/>
              <a:t>Source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502920"/>
            <a:ext cx="10972800" cy="2743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41414"/>
                </a:solidFill>
                <a:latin typeface="Arial"/>
              </a:defRPr>
            </a:pPr>
            <a:r>
              <a:t>4. High-Level Architecture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85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6E6E6E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Arial"/>
              </a:defRPr>
            </a:pPr>
            <a:r>
              <a:t>IILM University • B.Tech CSE • Internship Presentation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25880"/>
            <a:ext cx="2468880" cy="960120"/>
          </a:xfrm>
          <a:prstGeom prst="roundRect">
            <a:avLst/>
          </a:prstGeom>
          <a:solidFill>
            <a:srgbClr val="F9F9F9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400" b="1">
                <a:solidFill>
                  <a:srgbClr val="141414"/>
                </a:solidFill>
                <a:latin typeface="Arial"/>
              </a:defRPr>
            </a:pPr>
            <a:r>
              <a:rPr dirty="0"/>
              <a:t>Dataset</a:t>
            </a:r>
          </a:p>
          <a:p>
            <a:pPr algn="ctr">
              <a:spcBef>
                <a:spcPts val="500"/>
              </a:spcBef>
              <a:defRPr sz="1150">
                <a:solidFill>
                  <a:srgbClr val="373737"/>
                </a:solidFill>
                <a:latin typeface="Arial"/>
              </a:defRPr>
            </a:pPr>
            <a:r>
              <a:rPr dirty="0"/>
              <a:t>Breast cancer CSV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325880"/>
            <a:ext cx="2468880" cy="960120"/>
          </a:xfrm>
          <a:prstGeom prst="roundRect">
            <a:avLst/>
          </a:prstGeom>
          <a:solidFill>
            <a:srgbClr val="F9F9F9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400" b="1">
                <a:solidFill>
                  <a:srgbClr val="141414"/>
                </a:solidFill>
                <a:latin typeface="Arial"/>
              </a:defRPr>
            </a:pPr>
            <a:r>
              <a:rPr dirty="0"/>
              <a:t>Preprocessing</a:t>
            </a:r>
          </a:p>
          <a:p>
            <a:pPr algn="ctr">
              <a:spcBef>
                <a:spcPts val="500"/>
              </a:spcBef>
              <a:defRPr sz="1150">
                <a:solidFill>
                  <a:srgbClr val="373737"/>
                </a:solidFill>
                <a:latin typeface="Arial"/>
              </a:defRPr>
            </a:pPr>
            <a:r>
              <a:rPr dirty="0"/>
              <a:t>Cleaning &amp; feature scaling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1325880"/>
            <a:ext cx="2468880" cy="960120"/>
          </a:xfrm>
          <a:prstGeom prst="roundRect">
            <a:avLst/>
          </a:prstGeom>
          <a:solidFill>
            <a:srgbClr val="F9F9F9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400" b="1">
                <a:solidFill>
                  <a:srgbClr val="141414"/>
                </a:solidFill>
                <a:latin typeface="Arial"/>
              </a:defRPr>
            </a:pPr>
            <a:r>
              <a:rPr dirty="0"/>
              <a:t>Model Training</a:t>
            </a:r>
          </a:p>
          <a:p>
            <a:pPr algn="ctr">
              <a:spcBef>
                <a:spcPts val="500"/>
              </a:spcBef>
              <a:defRPr sz="1150">
                <a:solidFill>
                  <a:srgbClr val="373737"/>
                </a:solidFill>
                <a:latin typeface="Arial"/>
              </a:defRPr>
            </a:pPr>
            <a:r>
              <a:rPr dirty="0"/>
              <a:t>KNN classifier fitting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784348"/>
            <a:ext cx="2468880" cy="960120"/>
          </a:xfrm>
          <a:prstGeom prst="roundRect">
            <a:avLst/>
          </a:prstGeom>
          <a:solidFill>
            <a:srgbClr val="F9F9F9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400" b="1">
                <a:solidFill>
                  <a:srgbClr val="141414"/>
                </a:solidFill>
                <a:latin typeface="Arial"/>
              </a:defRPr>
            </a:pPr>
            <a:r>
              <a:rPr dirty="0"/>
              <a:t>Hyperparameter Tuning</a:t>
            </a:r>
          </a:p>
          <a:p>
            <a:pPr algn="ctr">
              <a:spcBef>
                <a:spcPts val="500"/>
              </a:spcBef>
              <a:defRPr sz="1150">
                <a:solidFill>
                  <a:srgbClr val="373737"/>
                </a:solidFill>
                <a:latin typeface="Arial"/>
              </a:defRPr>
            </a:pPr>
            <a:r>
              <a:rPr dirty="0"/>
              <a:t>Optimal k selection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03320" y="2816352"/>
            <a:ext cx="2468880" cy="960120"/>
          </a:xfrm>
          <a:prstGeom prst="roundRect">
            <a:avLst/>
          </a:prstGeom>
          <a:solidFill>
            <a:srgbClr val="F9F9F9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400" b="1">
                <a:solidFill>
                  <a:srgbClr val="141414"/>
                </a:solidFill>
                <a:latin typeface="Arial"/>
              </a:defRPr>
            </a:pPr>
            <a:r>
              <a:rPr dirty="0"/>
              <a:t>Model Evaluation</a:t>
            </a:r>
          </a:p>
          <a:p>
            <a:pPr algn="ctr">
              <a:spcBef>
                <a:spcPts val="500"/>
              </a:spcBef>
              <a:defRPr sz="1150">
                <a:solidFill>
                  <a:srgbClr val="373737"/>
                </a:solidFill>
                <a:latin typeface="Arial"/>
              </a:defRPr>
            </a:pPr>
            <a:r>
              <a:rPr dirty="0"/>
              <a:t>Accuracy score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2916936"/>
            <a:ext cx="2468880" cy="960120"/>
          </a:xfrm>
          <a:prstGeom prst="roundRect">
            <a:avLst/>
          </a:prstGeom>
          <a:solidFill>
            <a:srgbClr val="F9F9F9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400" b="1">
                <a:solidFill>
                  <a:srgbClr val="141414"/>
                </a:solidFill>
                <a:latin typeface="Arial"/>
              </a:defRPr>
            </a:pPr>
            <a:r>
              <a:rPr dirty="0"/>
              <a:t>Visualization</a:t>
            </a:r>
          </a:p>
          <a:p>
            <a:pPr algn="ctr">
              <a:spcBef>
                <a:spcPts val="500"/>
              </a:spcBef>
              <a:defRPr sz="1150">
                <a:solidFill>
                  <a:srgbClr val="373737"/>
                </a:solidFill>
                <a:latin typeface="Arial"/>
              </a:defRPr>
            </a:pPr>
            <a:r>
              <a:rPr dirty="0"/>
              <a:t>Accuracy vs k plot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6908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141414"/>
                </a:solidFill>
                <a:latin typeface="Arial"/>
              </a:defRPr>
            </a:pPr>
            <a:r>
              <a:t>Iterative methodology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572000"/>
            <a:ext cx="1737360" cy="914400"/>
          </a:xfrm>
          <a:prstGeom prst="roundRect">
            <a:avLst/>
          </a:prstGeom>
          <a:solidFill>
            <a:srgbClr val="F9F9F9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400" b="1">
                <a:solidFill>
                  <a:srgbClr val="141414"/>
                </a:solidFill>
                <a:latin typeface="Arial"/>
              </a:defRPr>
            </a:pPr>
            <a:r>
              <a:rPr dirty="0"/>
              <a:t>1</a:t>
            </a:r>
          </a:p>
          <a:p>
            <a:pPr algn="ctr">
              <a:spcBef>
                <a:spcPts val="500"/>
              </a:spcBef>
              <a:defRPr sz="1150">
                <a:solidFill>
                  <a:srgbClr val="373737"/>
                </a:solidFill>
                <a:latin typeface="Arial"/>
              </a:defRPr>
            </a:pPr>
            <a:r>
              <a:rPr dirty="0"/>
              <a:t>Data collection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4572000"/>
            <a:ext cx="1737360" cy="914400"/>
          </a:xfrm>
          <a:prstGeom prst="roundRect">
            <a:avLst/>
          </a:prstGeom>
          <a:solidFill>
            <a:srgbClr val="F9F9F9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400" b="1">
                <a:solidFill>
                  <a:srgbClr val="141414"/>
                </a:solidFill>
                <a:latin typeface="Arial"/>
              </a:defRPr>
            </a:pPr>
            <a:r>
              <a:rPr dirty="0"/>
              <a:t>2</a:t>
            </a:r>
          </a:p>
          <a:p>
            <a:pPr algn="ctr">
              <a:spcBef>
                <a:spcPts val="500"/>
              </a:spcBef>
              <a:defRPr sz="1150">
                <a:solidFill>
                  <a:srgbClr val="373737"/>
                </a:solidFill>
                <a:latin typeface="Arial"/>
              </a:defRPr>
            </a:pPr>
            <a:r>
              <a:rPr dirty="0"/>
              <a:t>Preprocessing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4572000"/>
            <a:ext cx="1737360" cy="914400"/>
          </a:xfrm>
          <a:prstGeom prst="roundRect">
            <a:avLst/>
          </a:prstGeom>
          <a:solidFill>
            <a:srgbClr val="F9F9F9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400" b="1">
                <a:solidFill>
                  <a:srgbClr val="141414"/>
                </a:solidFill>
                <a:latin typeface="Arial"/>
              </a:defRPr>
            </a:pPr>
            <a:r>
              <a:rPr dirty="0"/>
              <a:t>3</a:t>
            </a:r>
          </a:p>
          <a:p>
            <a:pPr algn="ctr">
              <a:spcBef>
                <a:spcPts val="500"/>
              </a:spcBef>
              <a:defRPr sz="1150">
                <a:solidFill>
                  <a:srgbClr val="373737"/>
                </a:solidFill>
                <a:latin typeface="Arial"/>
              </a:defRPr>
            </a:pPr>
            <a:r>
              <a:rPr dirty="0"/>
              <a:t>Model building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4572000"/>
            <a:ext cx="1737360" cy="914400"/>
          </a:xfrm>
          <a:prstGeom prst="roundRect">
            <a:avLst/>
          </a:prstGeom>
          <a:solidFill>
            <a:srgbClr val="F9F9F9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400" b="1">
                <a:solidFill>
                  <a:srgbClr val="141414"/>
                </a:solidFill>
                <a:latin typeface="Arial"/>
              </a:defRPr>
            </a:pPr>
            <a:r>
              <a:rPr dirty="0"/>
              <a:t>4</a:t>
            </a:r>
          </a:p>
          <a:p>
            <a:pPr algn="ctr">
              <a:spcBef>
                <a:spcPts val="500"/>
              </a:spcBef>
              <a:defRPr sz="1150">
                <a:solidFill>
                  <a:srgbClr val="373737"/>
                </a:solidFill>
                <a:latin typeface="Arial"/>
              </a:defRPr>
            </a:pPr>
            <a:r>
              <a:rPr dirty="0"/>
              <a:t>Training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4572000"/>
            <a:ext cx="1737360" cy="914400"/>
          </a:xfrm>
          <a:prstGeom prst="roundRect">
            <a:avLst/>
          </a:prstGeom>
          <a:solidFill>
            <a:srgbClr val="F9F9F9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400" b="1">
                <a:solidFill>
                  <a:srgbClr val="141414"/>
                </a:solidFill>
                <a:latin typeface="Arial"/>
              </a:defRPr>
            </a:pPr>
            <a:r>
              <a:rPr dirty="0"/>
              <a:t>5</a:t>
            </a:r>
          </a:p>
          <a:p>
            <a:pPr algn="ctr">
              <a:spcBef>
                <a:spcPts val="500"/>
              </a:spcBef>
              <a:defRPr sz="1150">
                <a:solidFill>
                  <a:srgbClr val="373737"/>
                </a:solidFill>
                <a:latin typeface="Arial"/>
              </a:defRPr>
            </a:pPr>
            <a:r>
              <a:rPr dirty="0"/>
              <a:t>Evaluation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0" y="4572000"/>
            <a:ext cx="1737360" cy="914400"/>
          </a:xfrm>
          <a:prstGeom prst="roundRect">
            <a:avLst/>
          </a:prstGeom>
          <a:solidFill>
            <a:srgbClr val="F9F9F9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400" b="1">
                <a:solidFill>
                  <a:srgbClr val="141414"/>
                </a:solidFill>
                <a:latin typeface="Arial"/>
              </a:defRPr>
            </a:pPr>
            <a:r>
              <a:rPr dirty="0"/>
              <a:t>6</a:t>
            </a:r>
          </a:p>
          <a:p>
            <a:pPr algn="ctr">
              <a:spcBef>
                <a:spcPts val="500"/>
              </a:spcBef>
              <a:defRPr sz="1150">
                <a:solidFill>
                  <a:srgbClr val="373737"/>
                </a:solidFill>
                <a:latin typeface="Arial"/>
              </a:defRPr>
            </a:pPr>
            <a:r>
              <a:rPr dirty="0"/>
              <a:t>Iteration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4360" y="502920"/>
            <a:ext cx="10972800" cy="27432"/>
          </a:xfrm>
          <a:prstGeom prst="rect">
            <a:avLst/>
          </a:prstGeom>
          <a:solidFill>
            <a:srgbClr val="1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9875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41414"/>
                </a:solidFill>
                <a:latin typeface="Arial"/>
              </a:defRPr>
            </a:pPr>
            <a:r>
              <a:t>5. Outcomes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85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6E6E6E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37960"/>
            <a:ext cx="10515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Arial"/>
              </a:defRPr>
            </a:pPr>
            <a:r>
              <a:t>IILM University • B.Tech CSE • Internship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373737"/>
                </a:solidFill>
                <a:latin typeface="Arial"/>
              </a:defRPr>
            </a:pPr>
            <a:r>
              <a:t>• Practical understanding of an end-to-end supervised machine learning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373737"/>
                </a:solidFill>
                <a:latin typeface="Arial"/>
              </a:defRPr>
            </a:pPr>
            <a:r>
              <a:t>• Achieved ~99.1% test accuracy with a KNN classifier at k = 3.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373737"/>
                </a:solidFill>
                <a:latin typeface="Arial"/>
              </a:defRPr>
            </a:pPr>
            <a:r>
              <a:t>• Hands-on experience with Python, Pandas, NumPy, Scikit-learn and Matplotlib.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8328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373737"/>
                </a:solidFill>
                <a:latin typeface="Arial"/>
              </a:defRPr>
            </a:pPr>
            <a:r>
              <a:t>• Understood the impact of feature scaling and k-value tuning on model performance.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06908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373737"/>
                </a:solidFill>
                <a:latin typeface="Arial"/>
              </a:defRPr>
            </a:pPr>
            <a:r>
              <a:t>• Gained experience in exploratory data analysis and result visualization.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75488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373737"/>
                </a:solidFill>
                <a:latin typeface="Arial"/>
              </a:defRPr>
            </a:pPr>
            <a:r>
              <a:t>• Improved ability to independently research, implement and evaluate ML models.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5532120"/>
            <a:ext cx="8138160" cy="566928"/>
          </a:xfrm>
          <a:prstGeom prst="roundRect">
            <a:avLst/>
          </a:prstGeom>
          <a:solidFill>
            <a:srgbClr val="F9F9F9"/>
          </a:solidFill>
          <a:ln>
            <a:solidFill>
              <a:srgbClr val="D7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Ins="164592" rtlCol="0" anchor="ctr"/>
          <a:lstStyle/>
          <a:p>
            <a:pPr algn="ctr">
              <a:defRPr sz="1400" b="1">
                <a:solidFill>
                  <a:srgbClr val="141414"/>
                </a:solidFill>
                <a:latin typeface="Arial"/>
              </a:defRPr>
            </a:pPr>
            <a:r>
              <a:t>Thank You</a:t>
            </a:r>
          </a:p>
          <a:p>
            <a:pPr>
              <a:spcBef>
                <a:spcPts val="500"/>
              </a:spcBef>
              <a:defRPr sz="1150">
                <a:solidFill>
                  <a:srgbClr val="373737"/>
                </a:solidFill>
                <a:latin typeface="Arial"/>
              </a:defRPr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540</Words>
  <Application>Microsoft Office PowerPoint</Application>
  <PresentationFormat>Widescreen</PresentationFormat>
  <Paragraphs>94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Amritesh Gautam</cp:lastModifiedBy>
  <cp:revision>2</cp:revision>
  <dcterms:created xsi:type="dcterms:W3CDTF">2013-01-27T09:14:16Z</dcterms:created>
  <dcterms:modified xsi:type="dcterms:W3CDTF">2026-08-30T16:59:04Z</dcterms:modified>
  <cp:category/>
</cp:coreProperties>
</file>